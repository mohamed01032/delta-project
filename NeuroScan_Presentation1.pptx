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مساء الخير يا دكاترة، هعرض على حضراتكم مشروع تخرجنا NeuroScan. المشروع عبارة عن منصة طبية متكاملة للكشف المبكر عن مرض الشلل الرعاش (Parkinson's Disease) بالذكاء الاصطناعي، باستخدام صور الرسوم الحلزونية (Spiral Drawings)، مدمج بداخل واجهة ويب تفاعلية ذكية لتوليد التقارير الطبية للأطباء.</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مرض الشلل الرعاش هو اضطراب عصبي بيصيب الخلايا المنتجة للدوبامين وبيأثر على الحركة. مشكلته الأكبر إن الكشف عنه بيتم متأخر. الأبحاث أثبتت إن الرعاش الدقيق بيظهر أولاً في حركات اليد أثناء رسم الأشكال الحلزونية (Spirals). من هنا جت فكرتنا: توظيف الرؤية الحاسوبية (Computer Vision) لتحليل هذه الرسوم وتشخيص المرض مبكراً.</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أهداف المشروع بتنقسم لشقين؛ شق علمي: تدريب موديل شبكات عصبية عميقة عالي الدقة دون حدوث تسريب للبيانات لضمان دقة النتائج طبياً. وشق هندسي تطبيقي: بناء موقع طبي متفاعل، وسريع لخدمة الأطباء، مع توفير تقرير طبي قابل للطباعة مباشرة.</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الهيكل البرمجي للنظام بيبدأ من واجهة المستخدم، الطبيب بيرفع الصورة، الـ Frontend بيبعتها بشكل غير متزامن (Asynchronous) للـ Backend المكتوب بـ Flask. الـ Backend بيشغل موديل PyTorch للتنبؤ بالنتيجة، وبناءً على مستوى الخطر، بيقوم محرك التقارير بتوليد إرشادات طبية وغذائية مخصصة للمريض.</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استخدمنا داتا سيت بتحتوي على 831 صورة مقسمة لـ 610 حالة طبيعية و 221 مصابة. عشان نضمن إن الموديل حقيقي ومبيحفظش الصور (Data Leakage)، قسمنا البيانات بناءً على هوية المريض (Patient Groups)، بحيث المرضى اللي في الـ Test Set مستحيل الموديل يكون شاف أي صورة ليهم أثناء التدريب.</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قبل إدخال الصور للموديل بنمررها بمرحلة معالجة مسبقة (Preprocessing): بنوحد المقاسات لـ 224 في 224 بيكسل، وبنعمل Normalization باستخدام أوزان ImageNet لضمان توافق توزيع البيانات، وبنستخدم مكتبة Albumentations لعمل التحويلات اللازمة.</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اخترنا موديل EfficientNet-B0 كـ Backbone لأنه بيدي أفضل توازن بين السرعة والدقة. استخدمنا الـ Transfer Learning؛ جمدنا الطبقات الأولى لأنها بتتعرف على الأشكال العامة، وفكينا تجميد آخر 3 بلوكات عشان نخلي الموديل يتعلم خصائص الرسم الحلزوني الطبي والـ Tremors بدقة عالية، وضفنا Dropout للحد من الـ Overfitting.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الداتا سيت فيها عدم توازن (Imbalance) لصالح الحالات الطبيعية، وعشان كده استخدمنا الـ Loss Function مع `pos_weight` لزيادة وزن الحالات المصابة أثناء الحساب. وطبقنا مبدأ التعلم التفاضلي (Differential Learning Rates)، فسرعنا التعلم للطبقة الأخيرة، وهدينا السرعة للـ Backbone لحمايته من فقدان معلوماته، وحددنا أفضل Threshold وهو 0.927.</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دي النتائج الحقيقية للموديل على الـ Test Set اللي مشافهاش قبل كده. حققنا دقة 96.79% والأهم طبياً هو الـ Recall اللي وصل لـ 98.48%، وده معناه إن الموديل قادر على كشف المصابين وتجنب تفويت أي مريض حقيقي، وهي نسبة ممتازة جداً في التطبيقات الطبية.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هنا هيبدأ شرح الواجهة البرمجية (الفرونت إند). صممت الواجهة من الصفر بـ Vanilla CSS و HTML5 بدون مكتبات ثقيلة عشان السرعة. استخدمت ثيم داكن مريح لعين الأطباء في المناوبات الليلية، ودمجت خط Cairo العربي مع خط مونو للبيانات الرقمية، والواجهة متجاوبة بالكامل مع مختلف الشاشات.</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في الكارت الأول للرفع، دعمت السحب والإفلات وتصفح الملفات. وبمجرد ما الطبيب بيرفع الصورة، بيظهر تأثير الـ Scan Beam أو شعاع الليزر الأخضر بيتحرك فوق الرسم الحلزوني. الحركة دي بتتعمل بالـ CSS keyframes، وبتدي الطبيب انطباع فوري إن عملية الكشف الطبي جارية وبشكل متفاعل.</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عشان نحافظ على تفاعل المستخدم أثناء انتظار معالجة الصورة، صممت شريط خطوات تفاعلي (Stepper) بيتحول للون الأخضر تدريجياً: استخراج الميزات، معالجة النموذج، توليد النتيجة. الخطوات دي بتتغير ديناميكياً مع حالة الطلب البرمجي، وده بيقلل الـ perceived wait time للمستخدم.</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لما الموديل بيرجع النتيجة، الصفحة بتعرض البيانات الحقيقية من غير ما تعمل ريفرش. بيتعرض بادج بحالة المريض (طبيعي بالأخضر أو يُحتمل إصابته بالأحمر) مع أشرطة تقدم تفاعلية بتتحرك بنسب الاحتمالات، وخط متدرج بيبين نسبة ثقة الموديل في تشخيصه.</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أهم خطوة طبية في الفرونت إند هي إمكانية طباعة تقرير مريض حقيقي. صممت صفحة التقرير لتتفاعل مع ميزة الطباعة بالمتصفح باستخدام `@media print` في الـ CSS، بحيث تخفي كل الأزرار الرقمية وتظبط الهوامش والخطوط أوتوماتيكياً عشان التقرير يطبع كـ PDF نظيف ومكتمل، ويحتوي على نصائح مخصصة لحالته.</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في الختام، قدرنا نبني نظام متكامل بكفاءة عالية جداً في الذكاء الاصطناعي وبواجهة مستخدم ذكية وسلسة للطبيب. خططنا الجاية هي دمج السيستم ده مع قواعد بيانات المستشفيات (EHR)، وإضافة نماذج تانية زي تحليل اهتزاز الصوت والموجات الكتابية لزيادة دقة التشخيص. شكراً جزيلاً لحضراتكم، ومستعدين لأي سؤال.</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50A14"/>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lIns="0" tIns="0" rIns="0" bIns="0">
            <a:spAutoFit/>
          </a:bodyPr>
          <a:lstStyle/>
          <a:p>
            <a:pPr>
              <a:defRPr sz="3600" b="1">
                <a:solidFill>
                  <a:srgbClr val="00D4FF"/>
                </a:solidFill>
                <a:latin typeface="Arial"/>
              </a:defRPr>
            </a:pPr>
            <a:r>
              <a:t>NeuroScan</a:t>
            </a:r>
          </a:p>
        </p:txBody>
      </p:sp>
      <p:sp>
        <p:nvSpPr>
          <p:cNvPr id="3" name="TextBox 2"/>
          <p:cNvSpPr txBox="1"/>
          <p:nvPr/>
        </p:nvSpPr>
        <p:spPr>
          <a:xfrm>
            <a:off x="731520" y="1188720"/>
            <a:ext cx="10698480" cy="457200"/>
          </a:xfrm>
          <a:prstGeom prst="rect">
            <a:avLst/>
          </a:prstGeom>
          <a:noFill/>
        </p:spPr>
        <p:txBody>
          <a:bodyPr wrap="square" lIns="0" tIns="0" rIns="0" bIns="0">
            <a:spAutoFit/>
          </a:bodyPr>
          <a:lstStyle/>
          <a:p>
            <a:pPr>
              <a:defRPr sz="1800" i="1">
                <a:solidFill>
                  <a:srgbClr val="6B84A8"/>
                </a:solidFill>
                <a:latin typeface="Arial"/>
              </a:defRPr>
            </a:pPr>
            <a:r>
              <a:t>Early Parkinson’s Disease Detection via Deep Learning and Interactive Web Diagnostics</a:t>
            </a:r>
          </a:p>
        </p:txBody>
      </p:sp>
      <p:sp>
        <p:nvSpPr>
          <p:cNvPr id="4" name="TextBox 3"/>
          <p:cNvSpPr txBox="1"/>
          <p:nvPr/>
        </p:nvSpPr>
        <p:spPr>
          <a:xfrm>
            <a:off x="731520" y="1828800"/>
            <a:ext cx="10698480" cy="4114800"/>
          </a:xfrm>
          <a:prstGeom prst="rect">
            <a:avLst/>
          </a:prstGeom>
          <a:noFill/>
        </p:spPr>
        <p:txBody>
          <a:bodyPr wrap="square" lIns="0" tIns="0" rIns="0" bIns="0">
            <a:spAutoFit/>
          </a:bodyPr>
          <a:lstStyle/>
          <a:p>
            <a:pPr>
              <a:spcAft>
                <a:spcPts val="1200"/>
              </a:spcAft>
              <a:defRPr sz="2000">
                <a:solidFill>
                  <a:srgbClr val="E8F0FE"/>
                </a:solidFill>
                <a:latin typeface="Arial"/>
              </a:defRPr>
            </a:pPr>
            <a:r>
              <a:t>• Graduation Project — Academic Year 2025/2026</a:t>
            </a:r>
          </a:p>
          <a:p>
            <a:pPr>
              <a:spcAft>
                <a:spcPts val="1200"/>
              </a:spcAft>
              <a:defRPr sz="2000">
                <a:solidFill>
                  <a:srgbClr val="E8F0FE"/>
                </a:solidFill>
                <a:latin typeface="Arial"/>
              </a:defRPr>
            </a:pPr>
            <a:r>
              <a:t>• Core Technologies: PyTorch · Flask · Vanilla HTML5/CSS3/JS</a:t>
            </a:r>
          </a:p>
          <a:p>
            <a:pPr>
              <a:spcAft>
                <a:spcPts val="1200"/>
              </a:spcAft>
              <a:defRPr sz="2000">
                <a:solidFill>
                  <a:srgbClr val="E8F0FE"/>
                </a:solidFill>
                <a:latin typeface="Arial"/>
              </a:defRPr>
            </a:pPr>
            <a:r>
              <a:t>• Team Members: [Insert Team Names]</a:t>
            </a:r>
          </a:p>
          <a:p>
            <a:pPr>
              <a:spcAft>
                <a:spcPts val="1200"/>
              </a:spcAft>
              <a:defRPr sz="2000">
                <a:solidFill>
                  <a:srgbClr val="E8F0FE"/>
                </a:solidFill>
                <a:latin typeface="Arial"/>
              </a:defRPr>
            </a:pPr>
            <a:r>
              <a:t>• Under Supervision of: [Insert Supervisor Name]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50A14"/>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lIns="0" tIns="0" rIns="0" bIns="0">
            <a:spAutoFit/>
          </a:bodyPr>
          <a:lstStyle/>
          <a:p>
            <a:pPr>
              <a:defRPr sz="3600" b="1">
                <a:solidFill>
                  <a:srgbClr val="00D4FF"/>
                </a:solidFill>
                <a:latin typeface="Arial"/>
              </a:defRPr>
            </a:pPr>
            <a:r>
              <a:t>Clinical Motivation &amp; Context</a:t>
            </a:r>
          </a:p>
        </p:txBody>
      </p:sp>
      <p:sp>
        <p:nvSpPr>
          <p:cNvPr id="3" name="TextBox 2"/>
          <p:cNvSpPr txBox="1"/>
          <p:nvPr/>
        </p:nvSpPr>
        <p:spPr>
          <a:xfrm>
            <a:off x="731520" y="1188720"/>
            <a:ext cx="10698480" cy="457200"/>
          </a:xfrm>
          <a:prstGeom prst="rect">
            <a:avLst/>
          </a:prstGeom>
          <a:noFill/>
        </p:spPr>
        <p:txBody>
          <a:bodyPr wrap="square" lIns="0" tIns="0" rIns="0" bIns="0">
            <a:spAutoFit/>
          </a:bodyPr>
          <a:lstStyle/>
          <a:p>
            <a:pPr>
              <a:defRPr sz="1800" i="1">
                <a:solidFill>
                  <a:srgbClr val="6B84A8"/>
                </a:solidFill>
                <a:latin typeface="Arial"/>
              </a:defRPr>
            </a:pPr>
            <a:r>
              <a:t>The challenge of early neurodegenerative diagnosis</a:t>
            </a:r>
          </a:p>
        </p:txBody>
      </p:sp>
      <p:sp>
        <p:nvSpPr>
          <p:cNvPr id="4" name="TextBox 3"/>
          <p:cNvSpPr txBox="1"/>
          <p:nvPr/>
        </p:nvSpPr>
        <p:spPr>
          <a:xfrm>
            <a:off x="731520" y="1828800"/>
            <a:ext cx="10698480" cy="4114800"/>
          </a:xfrm>
          <a:prstGeom prst="rect">
            <a:avLst/>
          </a:prstGeom>
          <a:noFill/>
        </p:spPr>
        <p:txBody>
          <a:bodyPr wrap="square" lIns="0" tIns="0" rIns="0" bIns="0">
            <a:spAutoFit/>
          </a:bodyPr>
          <a:lstStyle/>
          <a:p>
            <a:pPr>
              <a:spcAft>
                <a:spcPts val="1200"/>
              </a:spcAft>
              <a:defRPr sz="2000">
                <a:solidFill>
                  <a:srgbClr val="E8F0FE"/>
                </a:solidFill>
                <a:latin typeface="Arial"/>
              </a:defRPr>
            </a:pPr>
            <a:r>
              <a:t>• Parkinson’s disease affects millions globally, damaging motor functions.</a:t>
            </a:r>
          </a:p>
          <a:p>
            <a:pPr>
              <a:spcAft>
                <a:spcPts val="1200"/>
              </a:spcAft>
              <a:defRPr sz="2000">
                <a:solidFill>
                  <a:srgbClr val="E8F0FE"/>
                </a:solidFill>
                <a:latin typeface="Arial"/>
              </a:defRPr>
            </a:pPr>
            <a:r>
              <a:t>• Late diagnosis leads to irreversible brain cells damage.</a:t>
            </a:r>
          </a:p>
          <a:p>
            <a:pPr>
              <a:spcAft>
                <a:spcPts val="1200"/>
              </a:spcAft>
              <a:defRPr sz="2000">
                <a:solidFill>
                  <a:srgbClr val="E8F0FE"/>
                </a:solidFill>
                <a:latin typeface="Arial"/>
              </a:defRPr>
            </a:pPr>
            <a:r>
              <a:t>• Motor Markers: Handwritten spirals/waves show early micro-tremors.</a:t>
            </a:r>
          </a:p>
          <a:p>
            <a:pPr>
              <a:spcAft>
                <a:spcPts val="1200"/>
              </a:spcAft>
              <a:defRPr sz="2000">
                <a:solidFill>
                  <a:srgbClr val="E8F0FE"/>
                </a:solidFill>
                <a:latin typeface="Arial"/>
              </a:defRPr>
            </a:pPr>
            <a:r>
              <a:t>• Goal: Create an accessible, low-cost computer vision assistant to detect these patterns early.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50A14"/>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lIns="0" tIns="0" rIns="0" bIns="0">
            <a:spAutoFit/>
          </a:bodyPr>
          <a:lstStyle/>
          <a:p>
            <a:pPr>
              <a:defRPr sz="3600" b="1">
                <a:solidFill>
                  <a:srgbClr val="00D4FF"/>
                </a:solidFill>
                <a:latin typeface="Arial"/>
              </a:defRPr>
            </a:pPr>
            <a:r>
              <a:t>Project Objectives</a:t>
            </a:r>
          </a:p>
        </p:txBody>
      </p:sp>
      <p:sp>
        <p:nvSpPr>
          <p:cNvPr id="3" name="TextBox 2"/>
          <p:cNvSpPr txBox="1"/>
          <p:nvPr/>
        </p:nvSpPr>
        <p:spPr>
          <a:xfrm>
            <a:off x="731520" y="1188720"/>
            <a:ext cx="10698480" cy="457200"/>
          </a:xfrm>
          <a:prstGeom prst="rect">
            <a:avLst/>
          </a:prstGeom>
          <a:noFill/>
        </p:spPr>
        <p:txBody>
          <a:bodyPr wrap="square" lIns="0" tIns="0" rIns="0" bIns="0">
            <a:spAutoFit/>
          </a:bodyPr>
          <a:lstStyle/>
          <a:p>
            <a:pPr>
              <a:defRPr sz="1800" i="1">
                <a:solidFill>
                  <a:srgbClr val="6B84A8"/>
                </a:solidFill>
                <a:latin typeface="Arial"/>
              </a:defRPr>
            </a:pPr>
            <a:r>
              <a:t>Defining the scope of our system</a:t>
            </a:r>
          </a:p>
        </p:txBody>
      </p:sp>
      <p:sp>
        <p:nvSpPr>
          <p:cNvPr id="4" name="TextBox 3"/>
          <p:cNvSpPr txBox="1"/>
          <p:nvPr/>
        </p:nvSpPr>
        <p:spPr>
          <a:xfrm>
            <a:off x="731520" y="1828800"/>
            <a:ext cx="10698480" cy="4114800"/>
          </a:xfrm>
          <a:prstGeom prst="rect">
            <a:avLst/>
          </a:prstGeom>
          <a:noFill/>
        </p:spPr>
        <p:txBody>
          <a:bodyPr wrap="square" lIns="0" tIns="0" rIns="0" bIns="0">
            <a:spAutoFit/>
          </a:bodyPr>
          <a:lstStyle/>
          <a:p>
            <a:pPr>
              <a:spcAft>
                <a:spcPts val="1200"/>
              </a:spcAft>
              <a:defRPr sz="2000">
                <a:solidFill>
                  <a:srgbClr val="E8F0FE"/>
                </a:solidFill>
                <a:latin typeface="Arial"/>
              </a:defRPr>
            </a:pPr>
            <a:r>
              <a:t>• Deep Learning Engine: Train a highly accurate Deep CNN to classify drawing abnormalities.</a:t>
            </a:r>
          </a:p>
          <a:p>
            <a:pPr>
              <a:spcAft>
                <a:spcPts val="1200"/>
              </a:spcAft>
              <a:defRPr sz="2000">
                <a:solidFill>
                  <a:srgbClr val="E8F0FE"/>
                </a:solidFill>
                <a:latin typeface="Arial"/>
              </a:defRPr>
            </a:pPr>
            <a:r>
              <a:t>• No Data Leakage: Ensure clinical validity by evaluating on a strictly unseen patient group.</a:t>
            </a:r>
          </a:p>
          <a:p>
            <a:pPr>
              <a:spcAft>
                <a:spcPts val="1200"/>
              </a:spcAft>
              <a:defRPr sz="2000">
                <a:solidFill>
                  <a:srgbClr val="E8F0FE"/>
                </a:solidFill>
                <a:latin typeface="Arial"/>
              </a:defRPr>
            </a:pPr>
            <a:r>
              <a:t>• Modern Web Portal: Deliver an interactive, fast, responsive UI for clinical workflows.</a:t>
            </a:r>
          </a:p>
          <a:p>
            <a:pPr>
              <a:spcAft>
                <a:spcPts val="1200"/>
              </a:spcAft>
              <a:defRPr sz="2000">
                <a:solidFill>
                  <a:srgbClr val="E8F0FE"/>
                </a:solidFill>
                <a:latin typeface="Arial"/>
              </a:defRPr>
            </a:pPr>
            <a:r>
              <a:t>• Dynamic Diagnostics: Instantly generate printable, actionable patient reports (PDFs).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50A14"/>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lIns="0" tIns="0" rIns="0" bIns="0">
            <a:spAutoFit/>
          </a:bodyPr>
          <a:lstStyle/>
          <a:p>
            <a:pPr>
              <a:defRPr sz="3600" b="1">
                <a:solidFill>
                  <a:srgbClr val="00D4FF"/>
                </a:solidFill>
                <a:latin typeface="Arial"/>
              </a:defRPr>
            </a:pPr>
            <a:r>
              <a:t>System Architecture</a:t>
            </a:r>
          </a:p>
        </p:txBody>
      </p:sp>
      <p:sp>
        <p:nvSpPr>
          <p:cNvPr id="3" name="TextBox 2"/>
          <p:cNvSpPr txBox="1"/>
          <p:nvPr/>
        </p:nvSpPr>
        <p:spPr>
          <a:xfrm>
            <a:off x="731520" y="1188720"/>
            <a:ext cx="10698480" cy="457200"/>
          </a:xfrm>
          <a:prstGeom prst="rect">
            <a:avLst/>
          </a:prstGeom>
          <a:noFill/>
        </p:spPr>
        <p:txBody>
          <a:bodyPr wrap="square" lIns="0" tIns="0" rIns="0" bIns="0">
            <a:spAutoFit/>
          </a:bodyPr>
          <a:lstStyle/>
          <a:p>
            <a:pPr>
              <a:defRPr sz="1800" i="1">
                <a:solidFill>
                  <a:srgbClr val="6B84A8"/>
                </a:solidFill>
                <a:latin typeface="Arial"/>
              </a:defRPr>
            </a:pPr>
            <a:r>
              <a:t>How data flows from upload to prediction</a:t>
            </a:r>
          </a:p>
        </p:txBody>
      </p:sp>
      <p:sp>
        <p:nvSpPr>
          <p:cNvPr id="4" name="TextBox 3"/>
          <p:cNvSpPr txBox="1"/>
          <p:nvPr/>
        </p:nvSpPr>
        <p:spPr>
          <a:xfrm>
            <a:off x="731520" y="1828800"/>
            <a:ext cx="10698480" cy="4114800"/>
          </a:xfrm>
          <a:prstGeom prst="rect">
            <a:avLst/>
          </a:prstGeom>
          <a:noFill/>
        </p:spPr>
        <p:txBody>
          <a:bodyPr wrap="square" lIns="0" tIns="0" rIns="0" bIns="0">
            <a:spAutoFit/>
          </a:bodyPr>
          <a:lstStyle/>
          <a:p>
            <a:pPr>
              <a:spcAft>
                <a:spcPts val="1200"/>
              </a:spcAft>
              <a:defRPr sz="2000">
                <a:solidFill>
                  <a:srgbClr val="E8F0FE"/>
                </a:solidFill>
                <a:latin typeface="Arial"/>
              </a:defRPr>
            </a:pPr>
            <a:r>
              <a:t>• Frontend (Client): User uploads spiral scan -&gt; triggers animated preprocessing.</a:t>
            </a:r>
          </a:p>
          <a:p>
            <a:pPr>
              <a:spcAft>
                <a:spcPts val="1200"/>
              </a:spcAft>
              <a:defRPr sz="2000">
                <a:solidFill>
                  <a:srgbClr val="E8F0FE"/>
                </a:solidFill>
                <a:latin typeface="Arial"/>
              </a:defRPr>
            </a:pPr>
            <a:r>
              <a:t>• API Layer (Flask Backend): Asynchronous request handles secure image file uploads.</a:t>
            </a:r>
          </a:p>
          <a:p>
            <a:pPr>
              <a:spcAft>
                <a:spcPts val="1200"/>
              </a:spcAft>
              <a:defRPr sz="2000">
                <a:solidFill>
                  <a:srgbClr val="E8F0FE"/>
                </a:solidFill>
                <a:latin typeface="Arial"/>
              </a:defRPr>
            </a:pPr>
            <a:r>
              <a:t>• Inference Engine (PyTorch): Image normalization -&gt; Model prediction -&gt; Class probabilities.</a:t>
            </a:r>
          </a:p>
          <a:p>
            <a:pPr>
              <a:spcAft>
                <a:spcPts val="1200"/>
              </a:spcAft>
              <a:defRPr sz="2000">
                <a:solidFill>
                  <a:srgbClr val="E8F0FE"/>
                </a:solidFill>
                <a:latin typeface="Arial"/>
              </a:defRPr>
            </a:pPr>
            <a:r>
              <a:t>• Report Engine: Custom logic maps probabilities to dynamic dietary/clinical recommendations.</a:t>
            </a:r>
          </a:p>
          <a:p>
            <a:pPr>
              <a:spcAft>
                <a:spcPts val="1200"/>
              </a:spcAft>
              <a:defRPr sz="2000">
                <a:solidFill>
                  <a:srgbClr val="E8F0FE"/>
                </a:solidFill>
                <a:latin typeface="Arial"/>
              </a:defRPr>
            </a:pPr>
            <a:r>
              <a:t>• Output: Rendered UI dashboard &amp; formatted print-ready PDF layout.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50A14"/>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lIns="0" tIns="0" rIns="0" bIns="0">
            <a:spAutoFit/>
          </a:bodyPr>
          <a:lstStyle/>
          <a:p>
            <a:pPr>
              <a:defRPr sz="3600" b="1">
                <a:solidFill>
                  <a:srgbClr val="00D4FF"/>
                </a:solidFill>
                <a:latin typeface="Arial"/>
              </a:defRPr>
            </a:pPr>
            <a:r>
              <a:t>Dataset Profile</a:t>
            </a:r>
          </a:p>
        </p:txBody>
      </p:sp>
      <p:sp>
        <p:nvSpPr>
          <p:cNvPr id="3" name="TextBox 2"/>
          <p:cNvSpPr txBox="1"/>
          <p:nvPr/>
        </p:nvSpPr>
        <p:spPr>
          <a:xfrm>
            <a:off x="731520" y="1188720"/>
            <a:ext cx="10698480" cy="457200"/>
          </a:xfrm>
          <a:prstGeom prst="rect">
            <a:avLst/>
          </a:prstGeom>
          <a:noFill/>
        </p:spPr>
        <p:txBody>
          <a:bodyPr wrap="square" lIns="0" tIns="0" rIns="0" bIns="0">
            <a:spAutoFit/>
          </a:bodyPr>
          <a:lstStyle/>
          <a:p>
            <a:pPr>
              <a:defRPr sz="1800" i="1">
                <a:solidFill>
                  <a:srgbClr val="6B84A8"/>
                </a:solidFill>
                <a:latin typeface="Arial"/>
              </a:defRPr>
            </a:pPr>
            <a:r>
              <a:t>Preventing training bias &amp; leakage</a:t>
            </a:r>
          </a:p>
        </p:txBody>
      </p:sp>
      <p:sp>
        <p:nvSpPr>
          <p:cNvPr id="4" name="TextBox 3"/>
          <p:cNvSpPr txBox="1"/>
          <p:nvPr/>
        </p:nvSpPr>
        <p:spPr>
          <a:xfrm>
            <a:off x="731520" y="1828800"/>
            <a:ext cx="10698480" cy="4114800"/>
          </a:xfrm>
          <a:prstGeom prst="rect">
            <a:avLst/>
          </a:prstGeom>
          <a:noFill/>
        </p:spPr>
        <p:txBody>
          <a:bodyPr wrap="square" lIns="0" tIns="0" rIns="0" bIns="0">
            <a:spAutoFit/>
          </a:bodyPr>
          <a:lstStyle/>
          <a:p>
            <a:pPr>
              <a:spcAft>
                <a:spcPts val="1200"/>
              </a:spcAft>
              <a:defRPr sz="2000">
                <a:solidFill>
                  <a:srgbClr val="E8F0FE"/>
                </a:solidFill>
                <a:latin typeface="Arial"/>
              </a:defRPr>
            </a:pPr>
            <a:r>
              <a:t>• Dataset Name: Spiral Drawing Images.</a:t>
            </a:r>
          </a:p>
          <a:p>
            <a:pPr>
              <a:spcAft>
                <a:spcPts val="1200"/>
              </a:spcAft>
              <a:defRPr sz="2000">
                <a:solidFill>
                  <a:srgbClr val="E8F0FE"/>
                </a:solidFill>
                <a:latin typeface="Arial"/>
              </a:defRPr>
            </a:pPr>
            <a:r>
              <a:t>• Total Samples: 831 images (610 Normal vs. 221 Parkinson).</a:t>
            </a:r>
          </a:p>
          <a:p>
            <a:pPr>
              <a:spcAft>
                <a:spcPts val="1200"/>
              </a:spcAft>
              <a:defRPr sz="2000">
                <a:solidFill>
                  <a:srgbClr val="E8F0FE"/>
                </a:solidFill>
                <a:latin typeface="Arial"/>
              </a:defRPr>
            </a:pPr>
            <a:r>
              <a:t>• Unique Patient Groups: 18 distinct patient groups.</a:t>
            </a:r>
          </a:p>
          <a:p>
            <a:pPr>
              <a:spcAft>
                <a:spcPts val="1200"/>
              </a:spcAft>
              <a:defRPr sz="2000">
                <a:solidFill>
                  <a:srgbClr val="E8F0FE"/>
                </a:solidFill>
                <a:latin typeface="Arial"/>
              </a:defRPr>
            </a:pPr>
            <a:r>
              <a:t>• Clinical Partitioning (Group-Based Split):</a:t>
            </a:r>
          </a:p>
          <a:p>
            <a:pPr>
              <a:spcAft>
                <a:spcPts val="1200"/>
              </a:spcAft>
              <a:defRPr sz="1800">
                <a:solidFill>
                  <a:srgbClr val="6B84A8"/>
                </a:solidFill>
                <a:latin typeface="Arial"/>
              </a:defRPr>
            </a:pPr>
            <a:r>
              <a:t>    • Train + Validation set: 675 images</a:t>
            </a:r>
          </a:p>
          <a:p>
            <a:pPr>
              <a:spcAft>
                <a:spcPts val="1200"/>
              </a:spcAft>
              <a:defRPr sz="1800">
                <a:solidFill>
                  <a:srgbClr val="6B84A8"/>
                </a:solidFill>
                <a:latin typeface="Arial"/>
              </a:defRPr>
            </a:pPr>
            <a:r>
              <a:t>    • Hold-out Test set: 156 images</a:t>
            </a:r>
          </a:p>
          <a:p>
            <a:pPr>
              <a:spcAft>
                <a:spcPts val="1200"/>
              </a:spcAft>
              <a:defRPr sz="2000">
                <a:solidFill>
                  <a:srgbClr val="E8F0FE"/>
                </a:solidFill>
                <a:latin typeface="Arial"/>
              </a:defRPr>
            </a:pPr>
            <a:r>
              <a:t>• No images of patients in the test set were allowed during training.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50A14"/>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lIns="0" tIns="0" rIns="0" bIns="0">
            <a:spAutoFit/>
          </a:bodyPr>
          <a:lstStyle/>
          <a:p>
            <a:pPr>
              <a:defRPr sz="3600" b="1">
                <a:solidFill>
                  <a:srgbClr val="00D4FF"/>
                </a:solidFill>
                <a:latin typeface="Arial"/>
              </a:defRPr>
            </a:pPr>
            <a:r>
              <a:t>Data Preprocessing &amp; Augmentation</a:t>
            </a:r>
          </a:p>
        </p:txBody>
      </p:sp>
      <p:sp>
        <p:nvSpPr>
          <p:cNvPr id="3" name="TextBox 2"/>
          <p:cNvSpPr txBox="1"/>
          <p:nvPr/>
        </p:nvSpPr>
        <p:spPr>
          <a:xfrm>
            <a:off x="731520" y="1188720"/>
            <a:ext cx="10698480" cy="457200"/>
          </a:xfrm>
          <a:prstGeom prst="rect">
            <a:avLst/>
          </a:prstGeom>
          <a:noFill/>
        </p:spPr>
        <p:txBody>
          <a:bodyPr wrap="square" lIns="0" tIns="0" rIns="0" bIns="0">
            <a:spAutoFit/>
          </a:bodyPr>
          <a:lstStyle/>
          <a:p>
            <a:pPr>
              <a:defRPr sz="1800" i="1">
                <a:solidFill>
                  <a:srgbClr val="6B84A8"/>
                </a:solidFill>
                <a:latin typeface="Arial"/>
              </a:defRPr>
            </a:pPr>
            <a:r>
              <a:t>Formatting raw inputs for EfficientNet</a:t>
            </a:r>
          </a:p>
        </p:txBody>
      </p:sp>
      <p:sp>
        <p:nvSpPr>
          <p:cNvPr id="4" name="TextBox 3"/>
          <p:cNvSpPr txBox="1"/>
          <p:nvPr/>
        </p:nvSpPr>
        <p:spPr>
          <a:xfrm>
            <a:off x="731520" y="1828800"/>
            <a:ext cx="10698480" cy="4114800"/>
          </a:xfrm>
          <a:prstGeom prst="rect">
            <a:avLst/>
          </a:prstGeom>
          <a:noFill/>
        </p:spPr>
        <p:txBody>
          <a:bodyPr wrap="square" lIns="0" tIns="0" rIns="0" bIns="0">
            <a:spAutoFit/>
          </a:bodyPr>
          <a:lstStyle/>
          <a:p>
            <a:pPr>
              <a:spcAft>
                <a:spcPts val="1200"/>
              </a:spcAft>
              <a:defRPr sz="2000">
                <a:solidFill>
                  <a:srgbClr val="E8F0FE"/>
                </a:solidFill>
                <a:latin typeface="Arial"/>
              </a:defRPr>
            </a:pPr>
            <a:r>
              <a:t>• Spatial Resizing: Standardized all drawing scans to 224 x 224 pixels.</a:t>
            </a:r>
          </a:p>
          <a:p>
            <a:pPr>
              <a:spcAft>
                <a:spcPts val="1200"/>
              </a:spcAft>
              <a:defRPr sz="2000">
                <a:solidFill>
                  <a:srgbClr val="E8F0FE"/>
                </a:solidFill>
                <a:latin typeface="Arial"/>
              </a:defRPr>
            </a:pPr>
            <a:r>
              <a:t>• Color Space: Standardized RGB image structures.</a:t>
            </a:r>
          </a:p>
          <a:p>
            <a:pPr>
              <a:spcAft>
                <a:spcPts val="1200"/>
              </a:spcAft>
              <a:defRPr sz="2000">
                <a:solidFill>
                  <a:srgbClr val="E8F0FE"/>
                </a:solidFill>
                <a:latin typeface="Arial"/>
              </a:defRPr>
            </a:pPr>
            <a:r>
              <a:t>• Pixel Normalization: Normalized using ImageNet mean &amp; standard deviation:</a:t>
            </a:r>
          </a:p>
          <a:p>
            <a:pPr>
              <a:spcAft>
                <a:spcPts val="1200"/>
              </a:spcAft>
              <a:defRPr sz="1800">
                <a:solidFill>
                  <a:srgbClr val="6B84A8"/>
                </a:solidFill>
                <a:latin typeface="Arial"/>
              </a:defRPr>
            </a:pPr>
            <a:r>
              <a:t>    • mean = [0.485, 0.456, 0.406] | std = [0.229, 0.224, 0.225]</a:t>
            </a:r>
          </a:p>
          <a:p>
            <a:pPr>
              <a:spcAft>
                <a:spcPts val="1200"/>
              </a:spcAft>
              <a:defRPr sz="2000">
                <a:solidFill>
                  <a:srgbClr val="E8F0FE"/>
                </a:solidFill>
                <a:latin typeface="Arial"/>
              </a:defRPr>
            </a:pPr>
            <a:r>
              <a:t>• Augmentation Library: Integrated Albumentations for runtime transformations.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50A14"/>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lIns="0" tIns="0" rIns="0" bIns="0">
            <a:spAutoFit/>
          </a:bodyPr>
          <a:lstStyle/>
          <a:p>
            <a:pPr>
              <a:defRPr sz="3600" b="1">
                <a:solidFill>
                  <a:srgbClr val="00D4FF"/>
                </a:solidFill>
                <a:latin typeface="Arial"/>
              </a:defRPr>
            </a:pPr>
            <a:r>
              <a:t>Model Architecture</a:t>
            </a:r>
          </a:p>
        </p:txBody>
      </p:sp>
      <p:sp>
        <p:nvSpPr>
          <p:cNvPr id="3" name="TextBox 2"/>
          <p:cNvSpPr txBox="1"/>
          <p:nvPr/>
        </p:nvSpPr>
        <p:spPr>
          <a:xfrm>
            <a:off x="731520" y="1188720"/>
            <a:ext cx="10698480" cy="457200"/>
          </a:xfrm>
          <a:prstGeom prst="rect">
            <a:avLst/>
          </a:prstGeom>
          <a:noFill/>
        </p:spPr>
        <p:txBody>
          <a:bodyPr wrap="square" lIns="0" tIns="0" rIns="0" bIns="0">
            <a:spAutoFit/>
          </a:bodyPr>
          <a:lstStyle/>
          <a:p>
            <a:pPr>
              <a:defRPr sz="1800" i="1">
                <a:solidFill>
                  <a:srgbClr val="6B84A8"/>
                </a:solidFill>
                <a:latin typeface="Arial"/>
              </a:defRPr>
            </a:pPr>
            <a:r>
              <a:t>Deep Learning Backbone: EfficientNet-B0</a:t>
            </a:r>
          </a:p>
        </p:txBody>
      </p:sp>
      <p:sp>
        <p:nvSpPr>
          <p:cNvPr id="4" name="TextBox 3"/>
          <p:cNvSpPr txBox="1"/>
          <p:nvPr/>
        </p:nvSpPr>
        <p:spPr>
          <a:xfrm>
            <a:off x="731520" y="1828800"/>
            <a:ext cx="10698480" cy="4114800"/>
          </a:xfrm>
          <a:prstGeom prst="rect">
            <a:avLst/>
          </a:prstGeom>
          <a:noFill/>
        </p:spPr>
        <p:txBody>
          <a:bodyPr wrap="square" lIns="0" tIns="0" rIns="0" bIns="0">
            <a:spAutoFit/>
          </a:bodyPr>
          <a:lstStyle/>
          <a:p>
            <a:pPr>
              <a:spcAft>
                <a:spcPts val="1200"/>
              </a:spcAft>
              <a:defRPr sz="2000">
                <a:solidFill>
                  <a:srgbClr val="E8F0FE"/>
                </a:solidFill>
                <a:latin typeface="Arial"/>
              </a:defRPr>
            </a:pPr>
            <a:r>
              <a:t>• Chosen backbone: EfficientNet-B0 (Pretrained on ImageNet).</a:t>
            </a:r>
          </a:p>
          <a:p>
            <a:pPr>
              <a:spcAft>
                <a:spcPts val="1200"/>
              </a:spcAft>
              <a:defRPr sz="2000">
                <a:solidFill>
                  <a:srgbClr val="E8F0FE"/>
                </a:solidFill>
                <a:latin typeface="Arial"/>
              </a:defRPr>
            </a:pPr>
            <a:r>
              <a:t>• Why EfficientNet? Optimal balance of compute-efficiency &amp; classification accuracy.</a:t>
            </a:r>
          </a:p>
          <a:p>
            <a:pPr>
              <a:spcAft>
                <a:spcPts val="1200"/>
              </a:spcAft>
              <a:defRPr sz="2000">
                <a:solidFill>
                  <a:srgbClr val="E8F0FE"/>
                </a:solidFill>
                <a:latin typeface="Arial"/>
              </a:defRPr>
            </a:pPr>
            <a:r>
              <a:t>• Block Unfreezing Strategy:</a:t>
            </a:r>
          </a:p>
          <a:p>
            <a:pPr>
              <a:spcAft>
                <a:spcPts val="1200"/>
              </a:spcAft>
              <a:defRPr sz="1800">
                <a:solidFill>
                  <a:srgbClr val="6B84A8"/>
                </a:solidFill>
                <a:latin typeface="Arial"/>
              </a:defRPr>
            </a:pPr>
            <a:r>
              <a:t>    • Bottom layers frozen to preserve general feature extraction.</a:t>
            </a:r>
          </a:p>
          <a:p>
            <a:pPr>
              <a:spcAft>
                <a:spcPts val="1200"/>
              </a:spcAft>
              <a:defRPr sz="1800">
                <a:solidFill>
                  <a:srgbClr val="6B84A8"/>
                </a:solidFill>
                <a:latin typeface="Arial"/>
              </a:defRPr>
            </a:pPr>
            <a:r>
              <a:t>    • Unfroze the top 3 blocks to adapt to medical spiral shapes.</a:t>
            </a:r>
          </a:p>
          <a:p>
            <a:pPr>
              <a:spcAft>
                <a:spcPts val="1200"/>
              </a:spcAft>
              <a:defRPr sz="2000">
                <a:solidFill>
                  <a:srgbClr val="E8F0FE"/>
                </a:solidFill>
                <a:latin typeface="Arial"/>
              </a:defRPr>
            </a:pPr>
            <a:r>
              <a:t>• Custom Head: Replaced classification layer with Dropout (p=0.5) &amp; a Linear Classifier.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50A14"/>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lIns="0" tIns="0" rIns="0" bIns="0">
            <a:spAutoFit/>
          </a:bodyPr>
          <a:lstStyle/>
          <a:p>
            <a:pPr>
              <a:defRPr sz="3600" b="1">
                <a:solidFill>
                  <a:srgbClr val="00D4FF"/>
                </a:solidFill>
                <a:latin typeface="Arial"/>
              </a:defRPr>
            </a:pPr>
            <a:r>
              <a:t>Training Methodology</a:t>
            </a:r>
          </a:p>
        </p:txBody>
      </p:sp>
      <p:sp>
        <p:nvSpPr>
          <p:cNvPr id="3" name="TextBox 2"/>
          <p:cNvSpPr txBox="1"/>
          <p:nvPr/>
        </p:nvSpPr>
        <p:spPr>
          <a:xfrm>
            <a:off x="731520" y="1188720"/>
            <a:ext cx="10698480" cy="457200"/>
          </a:xfrm>
          <a:prstGeom prst="rect">
            <a:avLst/>
          </a:prstGeom>
          <a:noFill/>
        </p:spPr>
        <p:txBody>
          <a:bodyPr wrap="square" lIns="0" tIns="0" rIns="0" bIns="0">
            <a:spAutoFit/>
          </a:bodyPr>
          <a:lstStyle/>
          <a:p>
            <a:pPr>
              <a:defRPr sz="1800" i="1">
                <a:solidFill>
                  <a:srgbClr val="6B84A8"/>
                </a:solidFill>
                <a:latin typeface="Arial"/>
              </a:defRPr>
            </a:pPr>
            <a:r>
              <a:t>Model Training &amp; Loss Strategy</a:t>
            </a:r>
          </a:p>
        </p:txBody>
      </p:sp>
      <p:sp>
        <p:nvSpPr>
          <p:cNvPr id="4" name="TextBox 3"/>
          <p:cNvSpPr txBox="1"/>
          <p:nvPr/>
        </p:nvSpPr>
        <p:spPr>
          <a:xfrm>
            <a:off x="731520" y="1828800"/>
            <a:ext cx="10698480" cy="4114800"/>
          </a:xfrm>
          <a:prstGeom prst="rect">
            <a:avLst/>
          </a:prstGeom>
          <a:noFill/>
        </p:spPr>
        <p:txBody>
          <a:bodyPr wrap="square" lIns="0" tIns="0" rIns="0" bIns="0">
            <a:spAutoFit/>
          </a:bodyPr>
          <a:lstStyle/>
          <a:p>
            <a:pPr>
              <a:spcAft>
                <a:spcPts val="1200"/>
              </a:spcAft>
              <a:defRPr sz="2000">
                <a:solidFill>
                  <a:srgbClr val="E8F0FE"/>
                </a:solidFill>
                <a:latin typeface="Arial"/>
              </a:defRPr>
            </a:pPr>
            <a:r>
              <a:t>• Imbalance Mitigation: Utilized BCEWithLogitsLoss with a calibrated pos_weight parameter.</a:t>
            </a:r>
          </a:p>
          <a:p>
            <a:pPr>
              <a:spcAft>
                <a:spcPts val="1200"/>
              </a:spcAft>
              <a:defRPr sz="2000">
                <a:solidFill>
                  <a:srgbClr val="E8F0FE"/>
                </a:solidFill>
                <a:latin typeface="Arial"/>
              </a:defRPr>
            </a:pPr>
            <a:r>
              <a:t>• Optimizer: Adam (Adaptive Moment Estimation).</a:t>
            </a:r>
          </a:p>
          <a:p>
            <a:pPr>
              <a:spcAft>
                <a:spcPts val="1200"/>
              </a:spcAft>
              <a:defRPr sz="2000">
                <a:solidFill>
                  <a:srgbClr val="E8F0FE"/>
                </a:solidFill>
                <a:latin typeface="Arial"/>
              </a:defRPr>
            </a:pPr>
            <a:r>
              <a:t>• Differential Learning Rates:</a:t>
            </a:r>
          </a:p>
          <a:p>
            <a:pPr>
              <a:spcAft>
                <a:spcPts val="1200"/>
              </a:spcAft>
              <a:defRPr sz="1800">
                <a:solidFill>
                  <a:srgbClr val="6B84A8"/>
                </a:solidFill>
                <a:latin typeface="Arial"/>
              </a:defRPr>
            </a:pPr>
            <a:r>
              <a:t>    • lr = 1e-4 for classifier head (faster learning).</a:t>
            </a:r>
          </a:p>
          <a:p>
            <a:pPr>
              <a:spcAft>
                <a:spcPts val="1200"/>
              </a:spcAft>
              <a:defRPr sz="1800">
                <a:solidFill>
                  <a:srgbClr val="6B84A8"/>
                </a:solidFill>
                <a:latin typeface="Arial"/>
              </a:defRPr>
            </a:pPr>
            <a:r>
              <a:t>    • lr = 1e-5 for backbone blocks (fine-tuning safety).</a:t>
            </a:r>
          </a:p>
          <a:p>
            <a:pPr>
              <a:spcAft>
                <a:spcPts val="1200"/>
              </a:spcAft>
              <a:defRPr sz="2000">
                <a:solidFill>
                  <a:srgbClr val="E8F0FE"/>
                </a:solidFill>
                <a:latin typeface="Arial"/>
              </a:defRPr>
            </a:pPr>
            <a:r>
              <a:t>• Validation: 5-Fold Cross Validation for optimal threshold selection (0.927).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50A14"/>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lIns="0" tIns="0" rIns="0" bIns="0">
            <a:spAutoFit/>
          </a:bodyPr>
          <a:lstStyle/>
          <a:p>
            <a:pPr>
              <a:defRPr sz="3600" b="1">
                <a:solidFill>
                  <a:srgbClr val="00D4FF"/>
                </a:solidFill>
                <a:latin typeface="Arial"/>
              </a:defRPr>
            </a:pPr>
            <a:r>
              <a:t>Evaluation Results (Test Set)</a:t>
            </a:r>
          </a:p>
        </p:txBody>
      </p:sp>
      <p:sp>
        <p:nvSpPr>
          <p:cNvPr id="3" name="TextBox 2"/>
          <p:cNvSpPr txBox="1"/>
          <p:nvPr/>
        </p:nvSpPr>
        <p:spPr>
          <a:xfrm>
            <a:off x="731520" y="1188720"/>
            <a:ext cx="10698480" cy="457200"/>
          </a:xfrm>
          <a:prstGeom prst="rect">
            <a:avLst/>
          </a:prstGeom>
          <a:noFill/>
        </p:spPr>
        <p:txBody>
          <a:bodyPr wrap="square" lIns="0" tIns="0" rIns="0" bIns="0">
            <a:spAutoFit/>
          </a:bodyPr>
          <a:lstStyle/>
          <a:p>
            <a:pPr>
              <a:defRPr sz="1800" i="1">
                <a:solidFill>
                  <a:srgbClr val="6B84A8"/>
                </a:solidFill>
                <a:latin typeface="Arial"/>
              </a:defRPr>
            </a:pPr>
            <a:r>
              <a:t>Highly reliable generalization on unseen patients</a:t>
            </a:r>
          </a:p>
        </p:txBody>
      </p:sp>
      <p:sp>
        <p:nvSpPr>
          <p:cNvPr id="4" name="TextBox 3"/>
          <p:cNvSpPr txBox="1"/>
          <p:nvPr/>
        </p:nvSpPr>
        <p:spPr>
          <a:xfrm>
            <a:off x="731520" y="1828800"/>
            <a:ext cx="10698480" cy="4114800"/>
          </a:xfrm>
          <a:prstGeom prst="rect">
            <a:avLst/>
          </a:prstGeom>
          <a:noFill/>
        </p:spPr>
        <p:txBody>
          <a:bodyPr wrap="square" lIns="0" tIns="0" rIns="0" bIns="0">
            <a:spAutoFit/>
          </a:bodyPr>
          <a:lstStyle/>
          <a:p>
            <a:pPr>
              <a:spcAft>
                <a:spcPts val="1200"/>
              </a:spcAft>
              <a:defRPr sz="2000">
                <a:solidFill>
                  <a:srgbClr val="E8F0FE"/>
                </a:solidFill>
                <a:latin typeface="Arial"/>
              </a:defRPr>
            </a:pPr>
            <a:r>
              <a:t>• Accuracy: 96.79% (Test Set)</a:t>
            </a:r>
          </a:p>
          <a:p>
            <a:pPr>
              <a:spcAft>
                <a:spcPts val="1200"/>
              </a:spcAft>
              <a:defRPr sz="2000">
                <a:solidFill>
                  <a:srgbClr val="E8F0FE"/>
                </a:solidFill>
                <a:latin typeface="Arial"/>
              </a:defRPr>
            </a:pPr>
            <a:r>
              <a:t>• F1-Score: 96.30% (Robust balance)</a:t>
            </a:r>
          </a:p>
          <a:p>
            <a:pPr>
              <a:spcAft>
                <a:spcPts val="1200"/>
              </a:spcAft>
              <a:defRPr sz="2000">
                <a:solidFill>
                  <a:srgbClr val="E8F0FE"/>
                </a:solidFill>
                <a:latin typeface="Arial"/>
              </a:defRPr>
            </a:pPr>
            <a:r>
              <a:t>• Precision: 94.20% (Low false positives)</a:t>
            </a:r>
          </a:p>
          <a:p>
            <a:pPr>
              <a:spcAft>
                <a:spcPts val="1200"/>
              </a:spcAft>
              <a:defRPr sz="2000">
                <a:solidFill>
                  <a:srgbClr val="E8F0FE"/>
                </a:solidFill>
                <a:latin typeface="Arial"/>
              </a:defRPr>
            </a:pPr>
            <a:r>
              <a:t>• Recall: 98.48% (Critical for medicine: detects 98.48% of true cases)</a:t>
            </a:r>
          </a:p>
          <a:p>
            <a:pPr>
              <a:spcAft>
                <a:spcPts val="1200"/>
              </a:spcAft>
              <a:defRPr sz="2000">
                <a:solidFill>
                  <a:srgbClr val="E8F0FE"/>
                </a:solidFill>
                <a:latin typeface="Arial"/>
              </a:defRPr>
            </a:pPr>
            <a:r>
              <a:t>• ROC AUC: 99.49% (Exceptional model discrimination)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50A14"/>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lIns="0" tIns="0" rIns="0" bIns="0">
            <a:spAutoFit/>
          </a:bodyPr>
          <a:lstStyle/>
          <a:p>
            <a:pPr>
              <a:defRPr sz="3600" b="1">
                <a:solidFill>
                  <a:srgbClr val="00D4FF"/>
                </a:solidFill>
                <a:latin typeface="Arial"/>
              </a:defRPr>
            </a:pPr>
            <a:r>
              <a:t>Web Application Design System</a:t>
            </a:r>
          </a:p>
        </p:txBody>
      </p:sp>
      <p:sp>
        <p:nvSpPr>
          <p:cNvPr id="3" name="TextBox 2"/>
          <p:cNvSpPr txBox="1"/>
          <p:nvPr/>
        </p:nvSpPr>
        <p:spPr>
          <a:xfrm>
            <a:off x="731520" y="1188720"/>
            <a:ext cx="10698480" cy="457200"/>
          </a:xfrm>
          <a:prstGeom prst="rect">
            <a:avLst/>
          </a:prstGeom>
          <a:noFill/>
        </p:spPr>
        <p:txBody>
          <a:bodyPr wrap="square" lIns="0" tIns="0" rIns="0" bIns="0">
            <a:spAutoFit/>
          </a:bodyPr>
          <a:lstStyle/>
          <a:p>
            <a:pPr>
              <a:defRPr sz="1800" i="1">
                <a:solidFill>
                  <a:srgbClr val="6B84A8"/>
                </a:solidFill>
                <a:latin typeface="Arial"/>
              </a:defRPr>
            </a:pPr>
            <a:r>
              <a:t>User Interface &amp; UX Aesthetics</a:t>
            </a:r>
          </a:p>
        </p:txBody>
      </p:sp>
      <p:sp>
        <p:nvSpPr>
          <p:cNvPr id="4" name="TextBox 3"/>
          <p:cNvSpPr txBox="1"/>
          <p:nvPr/>
        </p:nvSpPr>
        <p:spPr>
          <a:xfrm>
            <a:off x="731520" y="1828800"/>
            <a:ext cx="10698480" cy="4114800"/>
          </a:xfrm>
          <a:prstGeom prst="rect">
            <a:avLst/>
          </a:prstGeom>
          <a:noFill/>
        </p:spPr>
        <p:txBody>
          <a:bodyPr wrap="square" lIns="0" tIns="0" rIns="0" bIns="0">
            <a:spAutoFit/>
          </a:bodyPr>
          <a:lstStyle/>
          <a:p>
            <a:pPr>
              <a:spcAft>
                <a:spcPts val="1200"/>
              </a:spcAft>
              <a:defRPr sz="2000">
                <a:solidFill>
                  <a:srgbClr val="E8F0FE"/>
                </a:solidFill>
                <a:latin typeface="Arial"/>
              </a:defRPr>
            </a:pPr>
            <a:r>
              <a:t>• Tech Stack: Vanilla CSS3 (Custom Variables) and HTML5 (Semantic Structure).</a:t>
            </a:r>
          </a:p>
          <a:p>
            <a:pPr>
              <a:spcAft>
                <a:spcPts val="1200"/>
              </a:spcAft>
              <a:defRPr sz="2000">
                <a:solidFill>
                  <a:srgbClr val="E8F0FE"/>
                </a:solidFill>
                <a:latin typeface="Arial"/>
              </a:defRPr>
            </a:pPr>
            <a:r>
              <a:t>• Theme: Sleek Dark Medical Mode (#050a14) to prevent eye fatigue.</a:t>
            </a:r>
          </a:p>
          <a:p>
            <a:pPr>
              <a:spcAft>
                <a:spcPts val="1200"/>
              </a:spcAft>
              <a:defRPr sz="2000">
                <a:solidFill>
                  <a:srgbClr val="E8F0FE"/>
                </a:solidFill>
                <a:latin typeface="Arial"/>
              </a:defRPr>
            </a:pPr>
            <a:r>
              <a:t>• Typography: Clean Arabic Cairo font paired with Space Mono for data/stats.</a:t>
            </a:r>
          </a:p>
          <a:p>
            <a:pPr>
              <a:spcAft>
                <a:spcPts val="1200"/>
              </a:spcAft>
              <a:defRPr sz="2000">
                <a:solidFill>
                  <a:srgbClr val="E8F0FE"/>
                </a:solidFill>
                <a:latin typeface="Arial"/>
              </a:defRPr>
            </a:pPr>
            <a:r>
              <a:t>• Responsiveness: Dynamic grid layouts using CSS Flexbox &amp; CSS Grid.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50A14"/>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lIns="0" tIns="0" rIns="0" bIns="0">
            <a:spAutoFit/>
          </a:bodyPr>
          <a:lstStyle/>
          <a:p>
            <a:pPr>
              <a:defRPr sz="3600" b="1">
                <a:solidFill>
                  <a:srgbClr val="00D4FF"/>
                </a:solidFill>
                <a:latin typeface="Arial"/>
              </a:defRPr>
            </a:pPr>
            <a:r>
              <a:t>File Upload &amp; Preview Experience</a:t>
            </a:r>
          </a:p>
        </p:txBody>
      </p:sp>
      <p:sp>
        <p:nvSpPr>
          <p:cNvPr id="3" name="TextBox 2"/>
          <p:cNvSpPr txBox="1"/>
          <p:nvPr/>
        </p:nvSpPr>
        <p:spPr>
          <a:xfrm>
            <a:off x="731520" y="1188720"/>
            <a:ext cx="10698480" cy="457200"/>
          </a:xfrm>
          <a:prstGeom prst="rect">
            <a:avLst/>
          </a:prstGeom>
          <a:noFill/>
        </p:spPr>
        <p:txBody>
          <a:bodyPr wrap="square" lIns="0" tIns="0" rIns="0" bIns="0">
            <a:spAutoFit/>
          </a:bodyPr>
          <a:lstStyle/>
          <a:p>
            <a:pPr>
              <a:defRPr sz="1800" i="1">
                <a:solidFill>
                  <a:srgbClr val="6B84A8"/>
                </a:solidFill>
                <a:latin typeface="Arial"/>
              </a:defRPr>
            </a:pPr>
            <a:r>
              <a:t>Interactive Upload &amp; Scan Simulation</a:t>
            </a:r>
          </a:p>
        </p:txBody>
      </p:sp>
      <p:sp>
        <p:nvSpPr>
          <p:cNvPr id="4" name="TextBox 3"/>
          <p:cNvSpPr txBox="1"/>
          <p:nvPr/>
        </p:nvSpPr>
        <p:spPr>
          <a:xfrm>
            <a:off x="731520" y="1828800"/>
            <a:ext cx="10698480" cy="4114800"/>
          </a:xfrm>
          <a:prstGeom prst="rect">
            <a:avLst/>
          </a:prstGeom>
          <a:noFill/>
        </p:spPr>
        <p:txBody>
          <a:bodyPr wrap="square" lIns="0" tIns="0" rIns="0" bIns="0">
            <a:spAutoFit/>
          </a:bodyPr>
          <a:lstStyle/>
          <a:p>
            <a:pPr>
              <a:spcAft>
                <a:spcPts val="1200"/>
              </a:spcAft>
              <a:defRPr sz="2000">
                <a:solidFill>
                  <a:srgbClr val="E8F0FE"/>
                </a:solidFill>
                <a:latin typeface="Arial"/>
              </a:defRPr>
            </a:pPr>
            <a:r>
              <a:t>• Supports native file browsing &amp; HTML5 Drag and Drop APIs.</a:t>
            </a:r>
          </a:p>
          <a:p>
            <a:pPr>
              <a:spcAft>
                <a:spcPts val="1200"/>
              </a:spcAft>
              <a:defRPr sz="2000">
                <a:solidFill>
                  <a:srgbClr val="E8F0FE"/>
                </a:solidFill>
                <a:latin typeface="Arial"/>
              </a:defRPr>
            </a:pPr>
            <a:r>
              <a:t>• Instant local file validation (checks image format/size).</a:t>
            </a:r>
          </a:p>
          <a:p>
            <a:pPr>
              <a:spcAft>
                <a:spcPts val="1200"/>
              </a:spcAft>
              <a:defRPr sz="2000">
                <a:solidFill>
                  <a:srgbClr val="E8F0FE"/>
                </a:solidFill>
                <a:latin typeface="Arial"/>
              </a:defRPr>
            </a:pPr>
            <a:r>
              <a:t>• Scan Beam Animation: Custom CSS keyframes create a moving green laser scan effect over the selected image.</a:t>
            </a:r>
          </a:p>
          <a:p>
            <a:pPr>
              <a:spcAft>
                <a:spcPts val="1200"/>
              </a:spcAft>
              <a:defRPr sz="2000">
                <a:solidFill>
                  <a:srgbClr val="E8F0FE"/>
                </a:solidFill>
                <a:latin typeface="Arial"/>
              </a:defRPr>
            </a:pPr>
            <a:r>
              <a:t>• Enhances user engagement and visually signifies diagnostic state.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50A14"/>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lIns="0" tIns="0" rIns="0" bIns="0">
            <a:spAutoFit/>
          </a:bodyPr>
          <a:lstStyle/>
          <a:p>
            <a:pPr>
              <a:defRPr sz="3600" b="1">
                <a:solidFill>
                  <a:srgbClr val="00D4FF"/>
                </a:solidFill>
                <a:latin typeface="Arial"/>
              </a:defRPr>
            </a:pPr>
            <a:r>
              <a:t>Stepper-Based Processing UI</a:t>
            </a:r>
          </a:p>
        </p:txBody>
      </p:sp>
      <p:sp>
        <p:nvSpPr>
          <p:cNvPr id="3" name="TextBox 2"/>
          <p:cNvSpPr txBox="1"/>
          <p:nvPr/>
        </p:nvSpPr>
        <p:spPr>
          <a:xfrm>
            <a:off x="731520" y="1188720"/>
            <a:ext cx="10698480" cy="457200"/>
          </a:xfrm>
          <a:prstGeom prst="rect">
            <a:avLst/>
          </a:prstGeom>
          <a:noFill/>
        </p:spPr>
        <p:txBody>
          <a:bodyPr wrap="square" lIns="0" tIns="0" rIns="0" bIns="0">
            <a:spAutoFit/>
          </a:bodyPr>
          <a:lstStyle/>
          <a:p>
            <a:pPr>
              <a:defRPr sz="1800" i="1">
                <a:solidFill>
                  <a:srgbClr val="6B84A8"/>
                </a:solidFill>
                <a:latin typeface="Arial"/>
              </a:defRPr>
            </a:pPr>
            <a:r>
              <a:t>Asynchronous Processing Stepper</a:t>
            </a:r>
          </a:p>
        </p:txBody>
      </p:sp>
      <p:sp>
        <p:nvSpPr>
          <p:cNvPr id="4" name="TextBox 3"/>
          <p:cNvSpPr txBox="1"/>
          <p:nvPr/>
        </p:nvSpPr>
        <p:spPr>
          <a:xfrm>
            <a:off x="731520" y="1828800"/>
            <a:ext cx="10698480" cy="4114800"/>
          </a:xfrm>
          <a:prstGeom prst="rect">
            <a:avLst/>
          </a:prstGeom>
          <a:noFill/>
        </p:spPr>
        <p:txBody>
          <a:bodyPr wrap="square" lIns="0" tIns="0" rIns="0" bIns="0">
            <a:spAutoFit/>
          </a:bodyPr>
          <a:lstStyle/>
          <a:p>
            <a:pPr>
              <a:spcAft>
                <a:spcPts val="1200"/>
              </a:spcAft>
              <a:defRPr sz="2000">
                <a:solidFill>
                  <a:srgbClr val="E8F0FE"/>
                </a:solidFill>
                <a:latin typeface="Arial"/>
              </a:defRPr>
            </a:pPr>
            <a:r>
              <a:t>• Async API calls using modern Javascript fetch() and FormData.</a:t>
            </a:r>
          </a:p>
          <a:p>
            <a:pPr>
              <a:spcAft>
                <a:spcPts val="1200"/>
              </a:spcAft>
              <a:defRPr sz="2000">
                <a:solidFill>
                  <a:srgbClr val="E8F0FE"/>
                </a:solidFill>
                <a:latin typeface="Arial"/>
              </a:defRPr>
            </a:pPr>
            <a:r>
              <a:t>• Step Progress Indicators:</a:t>
            </a:r>
          </a:p>
          <a:p>
            <a:pPr>
              <a:spcAft>
                <a:spcPts val="1200"/>
              </a:spcAft>
              <a:defRPr sz="2000">
                <a:solidFill>
                  <a:srgbClr val="E8F0FE"/>
                </a:solidFill>
                <a:latin typeface="Arial"/>
              </a:defRPr>
            </a:pPr>
            <a:r>
              <a:t>•   1. Feature Extraction (استخراج الميزات)</a:t>
            </a:r>
          </a:p>
          <a:p>
            <a:pPr>
              <a:spcAft>
                <a:spcPts val="1200"/>
              </a:spcAft>
              <a:defRPr sz="2000">
                <a:solidFill>
                  <a:srgbClr val="E8F0FE"/>
                </a:solidFill>
                <a:latin typeface="Arial"/>
              </a:defRPr>
            </a:pPr>
            <a:r>
              <a:t>•   2. Model Inference (معالجة النموذج)</a:t>
            </a:r>
          </a:p>
          <a:p>
            <a:pPr>
              <a:spcAft>
                <a:spcPts val="1200"/>
              </a:spcAft>
              <a:defRPr sz="2000">
                <a:solidFill>
                  <a:srgbClr val="E8F0FE"/>
                </a:solidFill>
                <a:latin typeface="Arial"/>
              </a:defRPr>
            </a:pPr>
            <a:r>
              <a:t>•   3. Result Generation (توليد النتيجة)</a:t>
            </a:r>
          </a:p>
          <a:p>
            <a:pPr>
              <a:spcAft>
                <a:spcPts val="1200"/>
              </a:spcAft>
              <a:defRPr sz="2000">
                <a:solidFill>
                  <a:srgbClr val="E8F0FE"/>
                </a:solidFill>
                <a:latin typeface="Arial"/>
              </a:defRPr>
            </a:pPr>
            <a:r>
              <a:t>• CSS transitions dynamically manage state classes (.active, .done).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50A14"/>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lIns="0" tIns="0" rIns="0" bIns="0">
            <a:spAutoFit/>
          </a:bodyPr>
          <a:lstStyle/>
          <a:p>
            <a:pPr>
              <a:defRPr sz="3600" b="1">
                <a:solidFill>
                  <a:srgbClr val="00D4FF"/>
                </a:solidFill>
                <a:latin typeface="Arial"/>
              </a:defRPr>
            </a:pPr>
            <a:r>
              <a:t>Diagnostics Visualization Panel</a:t>
            </a:r>
          </a:p>
        </p:txBody>
      </p:sp>
      <p:sp>
        <p:nvSpPr>
          <p:cNvPr id="3" name="TextBox 2"/>
          <p:cNvSpPr txBox="1"/>
          <p:nvPr/>
        </p:nvSpPr>
        <p:spPr>
          <a:xfrm>
            <a:off x="731520" y="1188720"/>
            <a:ext cx="10698480" cy="457200"/>
          </a:xfrm>
          <a:prstGeom prst="rect">
            <a:avLst/>
          </a:prstGeom>
          <a:noFill/>
        </p:spPr>
        <p:txBody>
          <a:bodyPr wrap="square" lIns="0" tIns="0" rIns="0" bIns="0">
            <a:spAutoFit/>
          </a:bodyPr>
          <a:lstStyle/>
          <a:p>
            <a:pPr>
              <a:defRPr sz="1800" i="1">
                <a:solidFill>
                  <a:srgbClr val="6B84A8"/>
                </a:solidFill>
                <a:latin typeface="Arial"/>
              </a:defRPr>
            </a:pPr>
            <a:r>
              <a:t>Dynamic Data &amp; Risk Visualization</a:t>
            </a:r>
          </a:p>
        </p:txBody>
      </p:sp>
      <p:sp>
        <p:nvSpPr>
          <p:cNvPr id="4" name="TextBox 3"/>
          <p:cNvSpPr txBox="1"/>
          <p:nvPr/>
        </p:nvSpPr>
        <p:spPr>
          <a:xfrm>
            <a:off x="731520" y="1828800"/>
            <a:ext cx="10698480" cy="4114800"/>
          </a:xfrm>
          <a:prstGeom prst="rect">
            <a:avLst/>
          </a:prstGeom>
          <a:noFill/>
        </p:spPr>
        <p:txBody>
          <a:bodyPr wrap="square" lIns="0" tIns="0" rIns="0" bIns="0">
            <a:spAutoFit/>
          </a:bodyPr>
          <a:lstStyle/>
          <a:p>
            <a:pPr>
              <a:spcAft>
                <a:spcPts val="1200"/>
              </a:spcAft>
              <a:defRPr sz="2000">
                <a:solidFill>
                  <a:srgbClr val="E8F0FE"/>
                </a:solidFill>
                <a:latin typeface="Arial"/>
              </a:defRPr>
            </a:pPr>
            <a:r>
              <a:t>• Parsed JSON payload updates DOM elements dynamically.</a:t>
            </a:r>
          </a:p>
          <a:p>
            <a:pPr>
              <a:spcAft>
                <a:spcPts val="1200"/>
              </a:spcAft>
              <a:defRPr sz="2000">
                <a:solidFill>
                  <a:srgbClr val="E8F0FE"/>
                </a:solidFill>
                <a:latin typeface="Arial"/>
              </a:defRPr>
            </a:pPr>
            <a:r>
              <a:t>• Risk Badges: Low, Medium, and High-Risk chips color-coded according to threshold.</a:t>
            </a:r>
          </a:p>
          <a:p>
            <a:pPr>
              <a:spcAft>
                <a:spcPts val="1200"/>
              </a:spcAft>
              <a:defRPr sz="2000">
                <a:solidFill>
                  <a:srgbClr val="E8F0FE"/>
                </a:solidFill>
                <a:latin typeface="Arial"/>
              </a:defRPr>
            </a:pPr>
            <a:r>
              <a:t>• Probability Comparison: Animated progress bars showing Normal vs. Parkinson likelihoods.</a:t>
            </a:r>
          </a:p>
          <a:p>
            <a:pPr>
              <a:spcAft>
                <a:spcPts val="1200"/>
              </a:spcAft>
              <a:defRPr sz="2000">
                <a:solidFill>
                  <a:srgbClr val="E8F0FE"/>
                </a:solidFill>
                <a:latin typeface="Arial"/>
              </a:defRPr>
            </a:pPr>
            <a:r>
              <a:t>• Confidence Level Indicator: A gradient bar showcasing prediction confidence.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50A14"/>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lIns="0" tIns="0" rIns="0" bIns="0">
            <a:spAutoFit/>
          </a:bodyPr>
          <a:lstStyle/>
          <a:p>
            <a:pPr>
              <a:defRPr sz="3600" b="1">
                <a:solidFill>
                  <a:srgbClr val="00D4FF"/>
                </a:solidFill>
                <a:latin typeface="Arial"/>
              </a:defRPr>
            </a:pPr>
            <a:r>
              <a:t>Dynamic Medical PDF Report</a:t>
            </a:r>
          </a:p>
        </p:txBody>
      </p:sp>
      <p:sp>
        <p:nvSpPr>
          <p:cNvPr id="3" name="TextBox 2"/>
          <p:cNvSpPr txBox="1"/>
          <p:nvPr/>
        </p:nvSpPr>
        <p:spPr>
          <a:xfrm>
            <a:off x="731520" y="1188720"/>
            <a:ext cx="10698480" cy="457200"/>
          </a:xfrm>
          <a:prstGeom prst="rect">
            <a:avLst/>
          </a:prstGeom>
          <a:noFill/>
        </p:spPr>
        <p:txBody>
          <a:bodyPr wrap="square" lIns="0" tIns="0" rIns="0" bIns="0">
            <a:spAutoFit/>
          </a:bodyPr>
          <a:lstStyle/>
          <a:p>
            <a:pPr>
              <a:defRPr sz="1800" i="1">
                <a:solidFill>
                  <a:srgbClr val="6B84A8"/>
                </a:solidFill>
                <a:latin typeface="Arial"/>
              </a:defRPr>
            </a:pPr>
            <a:r>
              <a:t>Bridging digital diagnosis and paper workflows</a:t>
            </a:r>
          </a:p>
        </p:txBody>
      </p:sp>
      <p:sp>
        <p:nvSpPr>
          <p:cNvPr id="4" name="TextBox 3"/>
          <p:cNvSpPr txBox="1"/>
          <p:nvPr/>
        </p:nvSpPr>
        <p:spPr>
          <a:xfrm>
            <a:off x="731520" y="1828800"/>
            <a:ext cx="10698480" cy="4114800"/>
          </a:xfrm>
          <a:prstGeom prst="rect">
            <a:avLst/>
          </a:prstGeom>
          <a:noFill/>
        </p:spPr>
        <p:txBody>
          <a:bodyPr wrap="square" lIns="0" tIns="0" rIns="0" bIns="0">
            <a:spAutoFit/>
          </a:bodyPr>
          <a:lstStyle/>
          <a:p>
            <a:pPr>
              <a:spcAft>
                <a:spcPts val="1200"/>
              </a:spcAft>
              <a:defRPr sz="2000">
                <a:solidFill>
                  <a:srgbClr val="E8F0FE"/>
                </a:solidFill>
                <a:latin typeface="Arial"/>
              </a:defRPr>
            </a:pPr>
            <a:r>
              <a:t>• Opens a tailored printing viewport loaded with parsed patient details.</a:t>
            </a:r>
          </a:p>
          <a:p>
            <a:pPr>
              <a:spcAft>
                <a:spcPts val="1200"/>
              </a:spcAft>
              <a:defRPr sz="2000">
                <a:solidFill>
                  <a:srgbClr val="E8F0FE"/>
                </a:solidFill>
                <a:latin typeface="Arial"/>
              </a:defRPr>
            </a:pPr>
            <a:r>
              <a:t>• Custom Stylesheet: Utilizes CSS @media print directives in report.css.</a:t>
            </a:r>
          </a:p>
          <a:p>
            <a:pPr>
              <a:spcAft>
                <a:spcPts val="1200"/>
              </a:spcAft>
              <a:defRPr sz="2000">
                <a:solidFill>
                  <a:srgbClr val="E8F0FE"/>
                </a:solidFill>
                <a:latin typeface="Arial"/>
              </a:defRPr>
            </a:pPr>
            <a:r>
              <a:t>• Hides digital layout elements (e.g., action buttons, close controls) during print.</a:t>
            </a:r>
          </a:p>
          <a:p>
            <a:pPr>
              <a:spcAft>
                <a:spcPts val="1200"/>
              </a:spcAft>
              <a:defRPr sz="2000">
                <a:solidFill>
                  <a:srgbClr val="E8F0FE"/>
                </a:solidFill>
                <a:latin typeface="Arial"/>
              </a:defRPr>
            </a:pPr>
            <a:r>
              <a:t>• Includes customized dietary guides, clinical advice, and a clear medical disclaimer.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50A14"/>
        </a:solidFill>
        <a:effectLst/>
      </p:bgPr>
    </p:bg>
    <p:spTree>
      <p:nvGrpSpPr>
        <p:cNvPr id="1" name=""/>
        <p:cNvGrpSpPr/>
        <p:nvPr/>
      </p:nvGrpSpPr>
      <p:grpSpPr/>
      <p:sp>
        <p:nvSpPr>
          <p:cNvPr id="2" name="TextBox 1"/>
          <p:cNvSpPr txBox="1"/>
          <p:nvPr/>
        </p:nvSpPr>
        <p:spPr>
          <a:xfrm>
            <a:off x="731520" y="457200"/>
            <a:ext cx="10698480" cy="914400"/>
          </a:xfrm>
          <a:prstGeom prst="rect">
            <a:avLst/>
          </a:prstGeom>
          <a:noFill/>
        </p:spPr>
        <p:txBody>
          <a:bodyPr wrap="square" lIns="0" tIns="0" rIns="0" bIns="0">
            <a:spAutoFit/>
          </a:bodyPr>
          <a:lstStyle/>
          <a:p>
            <a:pPr>
              <a:defRPr sz="3600" b="1">
                <a:solidFill>
                  <a:srgbClr val="00D4FF"/>
                </a:solidFill>
                <a:latin typeface="Arial"/>
              </a:defRPr>
            </a:pPr>
            <a:r>
              <a:t>Conclusion &amp; Future Scope</a:t>
            </a:r>
          </a:p>
        </p:txBody>
      </p:sp>
      <p:sp>
        <p:nvSpPr>
          <p:cNvPr id="3" name="TextBox 2"/>
          <p:cNvSpPr txBox="1"/>
          <p:nvPr/>
        </p:nvSpPr>
        <p:spPr>
          <a:xfrm>
            <a:off x="731520" y="1188720"/>
            <a:ext cx="10698480" cy="457200"/>
          </a:xfrm>
          <a:prstGeom prst="rect">
            <a:avLst/>
          </a:prstGeom>
          <a:noFill/>
        </p:spPr>
        <p:txBody>
          <a:bodyPr wrap="square" lIns="0" tIns="0" rIns="0" bIns="0">
            <a:spAutoFit/>
          </a:bodyPr>
          <a:lstStyle/>
          <a:p>
            <a:pPr>
              <a:defRPr sz="1800" i="1">
                <a:solidFill>
                  <a:srgbClr val="6B84A8"/>
                </a:solidFill>
                <a:latin typeface="Arial"/>
              </a:defRPr>
            </a:pPr>
            <a:r>
              <a:t>The future of NeuroScan</a:t>
            </a:r>
          </a:p>
        </p:txBody>
      </p:sp>
      <p:sp>
        <p:nvSpPr>
          <p:cNvPr id="4" name="TextBox 3"/>
          <p:cNvSpPr txBox="1"/>
          <p:nvPr/>
        </p:nvSpPr>
        <p:spPr>
          <a:xfrm>
            <a:off x="731520" y="1828800"/>
            <a:ext cx="10698480" cy="4114800"/>
          </a:xfrm>
          <a:prstGeom prst="rect">
            <a:avLst/>
          </a:prstGeom>
          <a:noFill/>
        </p:spPr>
        <p:txBody>
          <a:bodyPr wrap="square" lIns="0" tIns="0" rIns="0" bIns="0">
            <a:spAutoFit/>
          </a:bodyPr>
          <a:lstStyle/>
          <a:p>
            <a:pPr>
              <a:spcAft>
                <a:spcPts val="1200"/>
              </a:spcAft>
              <a:defRPr sz="2000">
                <a:solidFill>
                  <a:srgbClr val="E8F0FE"/>
                </a:solidFill>
                <a:latin typeface="Arial"/>
              </a:defRPr>
            </a:pPr>
            <a:r>
              <a:t>• Accomplished: A clinical diagnostic tool with 96.79% test accuracy and zero UI lag.</a:t>
            </a:r>
          </a:p>
          <a:p>
            <a:pPr>
              <a:spcAft>
                <a:spcPts val="1200"/>
              </a:spcAft>
              <a:defRPr sz="2000">
                <a:solidFill>
                  <a:srgbClr val="E8F0FE"/>
                </a:solidFill>
                <a:latin typeface="Arial"/>
              </a:defRPr>
            </a:pPr>
            <a:r>
              <a:t>• Clinical Integration: Design is ready to be linked with Electronic Health Records (EHR).</a:t>
            </a:r>
          </a:p>
          <a:p>
            <a:pPr>
              <a:spcAft>
                <a:spcPts val="1200"/>
              </a:spcAft>
              <a:defRPr sz="2000">
                <a:solidFill>
                  <a:srgbClr val="E8F0FE"/>
                </a:solidFill>
                <a:latin typeface="Arial"/>
              </a:defRPr>
            </a:pPr>
            <a:r>
              <a:t>• Model Expansion: Future support for voice tremors analysis and handwriting wave test data.</a:t>
            </a:r>
          </a:p>
          <a:p>
            <a:pPr>
              <a:spcAft>
                <a:spcPts val="1200"/>
              </a:spcAft>
              <a:defRPr sz="2000">
                <a:solidFill>
                  <a:srgbClr val="E8F0FE"/>
                </a:solidFill>
                <a:latin typeface="Arial"/>
              </a:defRPr>
            </a:pPr>
            <a:r>
              <a:t>• NeuroScan: Empowering healthcare systems with instant AI assistance.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